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62" r:id="rId1"/>
  </p:sldMasterIdLst>
  <p:notesMasterIdLst>
    <p:notesMasterId r:id="rId2"/>
  </p:notesMasterIdLst>
  <p:sldIdLst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4" r:id="rId13"/>
    <p:sldId id="295" r:id="rId14"/>
    <p:sldId id="296" r:id="rId15"/>
  </p:sldIdLst>
  <p:sldSz type="screen16x9" cy="6858000" cx="12192000"/>
  <p:notesSz cx="12192000" cy="6858000"/>
  <p:embeddedFontLst>
    <p:embeddedFont>
      <p:font typeface="Tahoma" panose="020B0604030504040204" pitchFamily="34" charset="0"/>
      <p:regular r:id="rId16"/>
      <p:bold r:id="rId17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C438D44E-1724-4FB2-BC19-819A6C0CA4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9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3;n"/>
          <p:cNvSpPr>
            <a:spLocks noChangeAspect="1" noRot="1" noGrp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78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1" name="Google Shape;63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6" name="Google Shape;76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1" name="Google Shape;85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9" name="Google Shape;94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4" name="Google Shape;103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8" name="Google Shape;112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3" name="Google Shape;120;p8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0" name="Google Shape;129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4" name="Google Shape;138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8" name="Google Shape;146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2" name="Google Shape;154;p12:notes"/>
          <p:cNvSpPr>
            <a:spLocks noChangeAspect="1" noRot="1" noGrp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6" name="Google Shape;162;p14:notes"/>
          <p:cNvSpPr>
            <a:spLocks noChangeAspect="1" noRot="1" noGrp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68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10;h6d8434914a404465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/>
        </p:spPr>
        <p:txBody>
          <a:bodyPr anchor="b" anchorCtr="0" bIns="121900" lIns="121900" rIns="121900" spcFirstLastPara="1" tIns="1219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algn="ctr"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algn="ctr"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algn="ctr"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algn="ctr"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algn="ctr"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algn="ctr"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algn="ctr"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algn="ctr"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048648" name="Google Shape;11;h6d8434914a404465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48649" name="Google Shape;12;h6d8434914a404465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75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4;h6d8434914a404465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8664" name="Google Shape;15;h6d8434914a404465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72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7;h6d8434914a404465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1048657" name="Google Shape;18;h6d8434914a404465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</a:lvl9pPr>
          </a:lstStyle>
          <a:p/>
        </p:txBody>
      </p:sp>
      <p:sp>
        <p:nvSpPr>
          <p:cNvPr id="1048658" name="Google Shape;19;h6d8434914a404465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77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21;h6d8434914a404465_0_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1048669" name="Google Shape;22;h6d8434914a404465_0_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48670" name="Google Shape;23;h6d8434914a404465_0_1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48671" name="Google Shape;24;h6d8434914a404465_0_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73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26;h6d8434914a404465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1048660" name="Google Shape;27;h6d8434914a404465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9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29;h6d8434914a404465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/>
        </p:spPr>
        <p:txBody>
          <a:bodyPr anchor="b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48651" name="Google Shape;30;h6d8434914a404465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48652" name="Google Shape;31;h6d8434914a404465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4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33;h6d8434914a404465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48662" name="Google Shape;34;h6d8434914a404465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8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Google Shape;36;h6d8434914a404465_0_30"/>
          <p:cNvSpPr/>
          <p:nvPr/>
        </p:nvSpPr>
        <p:spPr>
          <a:xfrm>
            <a:off x="6096000" y="-167"/>
            <a:ext cx="6096000" cy="68580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121900" lIns="121900" rIns="121900" spcFirstLastPara="1" tIns="1219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3" name="Google Shape;37;h6d8434914a404465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/>
        </p:spPr>
        <p:txBody>
          <a:bodyPr anchor="b" anchorCtr="0" bIns="121900" lIns="121900" rIns="121900" spcFirstLastPara="1" tIns="1219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48674" name="Google Shape;38;h6d8434914a404465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8675" name="Google Shape;39;h6d8434914a404465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</a:lvl9pPr>
          </a:lstStyle>
          <a:p/>
        </p:txBody>
      </p:sp>
      <p:sp>
        <p:nvSpPr>
          <p:cNvPr id="1048676" name="Google Shape;40;h6d8434914a404465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42;h6d8434914a404465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lvl1pPr>
          </a:lstStyle>
          <a:p/>
        </p:txBody>
      </p:sp>
      <p:sp>
        <p:nvSpPr>
          <p:cNvPr id="1048655" name="Google Shape;43;h6d8434914a404465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76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45;h6d8434914a404465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/>
        </p:spPr>
        <p:txBody>
          <a:bodyPr anchor="b" anchorCtr="0" bIns="121900" lIns="121900" rIns="121900" spcFirstLastPara="1" tIns="1219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 lvl="2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 lvl="3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 lvl="4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 lvl="5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 lvl="6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 lvl="7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 lvl="8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48666" name="Google Shape;46;h6d8434914a404465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/>
        </p:spPr>
        <p:txBody>
          <a:bodyPr anchor="t" anchorCtr="0" bIns="121900" lIns="121900" rIns="121900" spcFirstLastPara="1" tIns="121900" wrap="square">
            <a:normAutofit/>
          </a:bodyPr>
          <a:lstStyle>
            <a:lvl1pPr algn="ctr"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</a:lvl1pPr>
            <a:lvl2pPr algn="ctr"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</a:lvl2pPr>
            <a:lvl3pPr algn="ctr"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</a:lvl3pPr>
            <a:lvl4pPr algn="ctr"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</a:lvl4pPr>
            <a:lvl5pPr algn="ctr"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</a:lvl5pPr>
            <a:lvl6pPr algn="ctr"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</a:lvl6pPr>
            <a:lvl7pPr algn="ctr"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</a:lvl7pPr>
            <a:lvl8pPr algn="ctr"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</a:lvl8pPr>
            <a:lvl9pPr algn="ctr"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</a:lvl9pPr>
          </a:lstStyle>
          <a:p/>
        </p:txBody>
      </p:sp>
      <p:sp>
        <p:nvSpPr>
          <p:cNvPr id="1048667" name="Google Shape;47;h6d8434914a404465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70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9;h6d8434914a404465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</p:spPr>
        <p:txBody>
          <a:bodyPr anchor="ctr" anchorCtr="0" bIns="121900" lIns="121900" rIns="121900" spcFirstLastPara="1" tIns="121900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26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51;h6d8434914a404465_0_45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2153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3700"/>
              <a:buNone/>
              <a:defRPr b="1" sz="250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1048580" name="Google Shape;52;h6d8434914a404465_0_45"/>
          <p:cNvSpPr txBox="1">
            <a:spLocks noGrp="1"/>
          </p:cNvSpPr>
          <p:nvPr>
            <p:ph type="body" idx="1"/>
          </p:nvPr>
        </p:nvSpPr>
        <p:spPr>
          <a:xfrm>
            <a:off x="778865" y="1382908"/>
            <a:ext cx="10629900" cy="3683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indent="-228600" lvl="0" marL="457200">
              <a:spcBef>
                <a:spcPts val="0"/>
              </a:spcBef>
              <a:spcAft>
                <a:spcPts val="0"/>
              </a:spcAft>
              <a:buSzPts val="2400"/>
              <a:buNone/>
              <a:defRPr b="0" sz="16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indent="-228600" lvl="1" marL="914400">
              <a:spcBef>
                <a:spcPts val="1600"/>
              </a:spcBef>
              <a:spcAft>
                <a:spcPts val="0"/>
              </a:spcAft>
              <a:buSzPts val="1900"/>
              <a:buNone/>
            </a:lvl2pPr>
            <a:lvl3pPr algn="l" indent="-228600" lvl="2" marL="1371600">
              <a:spcBef>
                <a:spcPts val="1600"/>
              </a:spcBef>
              <a:spcAft>
                <a:spcPts val="0"/>
              </a:spcAft>
              <a:buSzPts val="1900"/>
              <a:buNone/>
            </a:lvl3pPr>
            <a:lvl4pPr algn="l" indent="-228600" lvl="3" marL="1828800">
              <a:spcBef>
                <a:spcPts val="1600"/>
              </a:spcBef>
              <a:spcAft>
                <a:spcPts val="0"/>
              </a:spcAft>
              <a:buSzPts val="1900"/>
              <a:buNone/>
            </a:lvl4pPr>
            <a:lvl5pPr algn="l" indent="-228600" lvl="4" marL="2286000">
              <a:spcBef>
                <a:spcPts val="1600"/>
              </a:spcBef>
              <a:spcAft>
                <a:spcPts val="0"/>
              </a:spcAft>
              <a:buSzPts val="1900"/>
              <a:buNone/>
            </a:lvl5pPr>
            <a:lvl6pPr algn="l" indent="-228600" lvl="5" marL="2743200">
              <a:spcBef>
                <a:spcPts val="1600"/>
              </a:spcBef>
              <a:spcAft>
                <a:spcPts val="0"/>
              </a:spcAft>
              <a:buSzPts val="1900"/>
              <a:buNone/>
            </a:lvl6pPr>
            <a:lvl7pPr algn="l" indent="-228600" lvl="6" marL="3200400">
              <a:spcBef>
                <a:spcPts val="1600"/>
              </a:spcBef>
              <a:spcAft>
                <a:spcPts val="0"/>
              </a:spcAft>
              <a:buSzPts val="1900"/>
              <a:buNone/>
            </a:lvl7pPr>
            <a:lvl8pPr algn="l" indent="-228600" lvl="7" marL="3657600">
              <a:spcBef>
                <a:spcPts val="1600"/>
              </a:spcBef>
              <a:spcAft>
                <a:spcPts val="0"/>
              </a:spcAft>
              <a:buSzPts val="1900"/>
              <a:buNone/>
            </a:lvl8pPr>
            <a:lvl9pPr algn="l" indent="-228600" lvl="8" marL="4114800">
              <a:spcBef>
                <a:spcPts val="1600"/>
              </a:spcBef>
              <a:spcAft>
                <a:spcPts val="1600"/>
              </a:spcAft>
              <a:buSzPts val="1900"/>
              <a:buNone/>
            </a:lvl9pPr>
          </a:lstStyle>
          <a:p/>
        </p:txBody>
      </p:sp>
      <p:sp>
        <p:nvSpPr>
          <p:cNvPr id="1048581" name="Google Shape;53;h6d8434914a404465_0_4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54;h6d8434914a404465_0_4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55;h6d8434914a404465_0_4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001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r" indent="0" lv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algn="r" indent="0" lvl="1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algn="r" indent="0" lvl="2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algn="r" indent="0" lvl="3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algn="r" indent="0" lvl="4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algn="r" indent="0" lvl="5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algn="r" indent="0" lvl="6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algn="r" indent="0" lvl="7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algn="r" indent="0" lvl="8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39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57;h6d8434914a404465_0_51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2153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3700"/>
              <a:buNone/>
              <a:defRPr b="1" sz="250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</a:lvl9pPr>
          </a:lstStyle>
          <a:p/>
        </p:txBody>
      </p:sp>
      <p:sp>
        <p:nvSpPr>
          <p:cNvPr id="1048603" name="Google Shape;58;h6d8434914a404465_0_5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4" name="Google Shape;59;h6d8434914a404465_0_5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5" name="Google Shape;60;h6d8434914a404465_0_5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001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r" indent="0" lv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algn="r" indent="0" lvl="1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algn="r" indent="0" lvl="2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algn="r" indent="0" lvl="3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algn="r" indent="0" lvl="4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algn="r" indent="0" lvl="5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algn="r" indent="0" lvl="6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algn="r" indent="0" lvl="7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algn="r" indent="0" lvl="8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2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h6d8434914a404465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/>
          <a:noFill/>
          <a:ln>
            <a:noFill/>
          </a:ln>
        </p:spPr>
        <p:txBody>
          <a:bodyPr anchor="t" anchorCtr="0" bIns="121900" lIns="121900" rIns="121900" spcFirstLastPara="1" tIns="121900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577" name="Google Shape;7;h6d8434914a404465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/>
          <a:noFill/>
          <a:ln>
            <a:noFill/>
          </a:ln>
        </p:spPr>
        <p:txBody>
          <a:bodyPr anchor="t" anchorCtr="0" bIns="121900" lIns="121900" rIns="121900" spcFirstLastPara="1" tIns="121900" wrap="square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578" name="Google Shape;8;h6d8434914a404465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/>
          <a:noFill/>
          <a:ln>
            <a:noFill/>
          </a:ln>
        </p:spPr>
        <p:txBody>
          <a:bodyPr anchor="ctr" anchorCtr="0" bIns="121900" lIns="121900" rIns="121900" spcFirstLastPara="1" tIns="121900" wrap="square">
            <a:normAutofit/>
          </a:bodyPr>
          <a:lstStyle>
            <a:lvl1pPr algn="r" lvl="0">
              <a:buNone/>
              <a:defRPr sz="1300">
                <a:solidFill>
                  <a:schemeClr val="dk2"/>
                </a:solidFill>
              </a:defRPr>
            </a:lvl1pPr>
            <a:lvl2pPr algn="r" lvl="1">
              <a:buNone/>
              <a:defRPr sz="1300">
                <a:solidFill>
                  <a:schemeClr val="dk2"/>
                </a:solidFill>
              </a:defRPr>
            </a:lvl2pPr>
            <a:lvl3pPr algn="r" lvl="2">
              <a:buNone/>
              <a:defRPr sz="1300">
                <a:solidFill>
                  <a:schemeClr val="dk2"/>
                </a:solidFill>
              </a:defRPr>
            </a:lvl3pPr>
            <a:lvl4pPr algn="r" lvl="3">
              <a:buNone/>
              <a:defRPr sz="1300">
                <a:solidFill>
                  <a:schemeClr val="dk2"/>
                </a:solidFill>
              </a:defRPr>
            </a:lvl4pPr>
            <a:lvl5pPr algn="r" lvl="4">
              <a:buNone/>
              <a:defRPr sz="1300">
                <a:solidFill>
                  <a:schemeClr val="dk2"/>
                </a:solidFill>
              </a:defRPr>
            </a:lvl5pPr>
            <a:lvl6pPr algn="r" lvl="5">
              <a:buNone/>
              <a:defRPr sz="1300">
                <a:solidFill>
                  <a:schemeClr val="dk2"/>
                </a:solidFill>
              </a:defRPr>
            </a:lvl6pPr>
            <a:lvl7pPr algn="r" lvl="6">
              <a:buNone/>
              <a:defRPr sz="1300">
                <a:solidFill>
                  <a:schemeClr val="dk2"/>
                </a:solidFill>
              </a:defRPr>
            </a:lvl7pPr>
            <a:lvl8pPr algn="r" lvl="7">
              <a:buNone/>
              <a:defRPr sz="1300">
                <a:solidFill>
                  <a:schemeClr val="dk2"/>
                </a:solidFill>
              </a:defRPr>
            </a:lvl8pPr>
            <a:lvl9pPr algn="r" lvl="8">
              <a:buNone/>
              <a:defRPr sz="1300">
                <a:solidFill>
                  <a:schemeClr val="dk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https://docs.google.com/spreadsheets/d/1LCV7q40KF9RITTVPM_0HYjwvWzbGLw3V/edit" TargetMode="External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7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65;p1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1156461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-1106805" lvl="0" marL="1118870" marR="5080" rtl="0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lang="en-IN">
                <a:solidFill>
                  <a:srgbClr val="FF0066"/>
                </a:solidFill>
              </a:rPr>
              <a:t>K. RAMAKRISHNAN COLLEGE OF TECHNOLOGY (AUTONOMOUS), TIRUCHIRAPALLI</a:t>
            </a:r>
            <a:endParaRPr sz="2600"/>
          </a:p>
        </p:txBody>
      </p:sp>
      <p:pic>
        <p:nvPicPr>
          <p:cNvPr id="2097152" name="Google Shape;66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53" name="Google Shape;67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585" name="Google Shape;68;p1"/>
          <p:cNvSpPr txBox="1"/>
          <p:nvPr/>
        </p:nvSpPr>
        <p:spPr>
          <a:xfrm>
            <a:off x="1524000" y="2484077"/>
            <a:ext cx="9415145" cy="39116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ctr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latin typeface="Arial"/>
                <a:ea typeface="Arial"/>
                <a:cs typeface="Arial"/>
                <a:sym typeface="Arial"/>
              </a:rPr>
              <a:t>AI-Based Email Spam Detection System Using Naive Bayes and NLP</a:t>
            </a:r>
            <a:endParaRPr dirty="0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586" name="Google Shape;69;p1"/>
          <p:cNvSpPr txBox="1"/>
          <p:nvPr/>
        </p:nvSpPr>
        <p:spPr>
          <a:xfrm>
            <a:off x="297891" y="6481368"/>
            <a:ext cx="485775" cy="41910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lang="en-IN">
                <a:solidFill>
                  <a:srgbClr val="8A8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6/5/24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87" name="Google Shape;70;p1"/>
          <p:cNvSpPr txBox="1"/>
          <p:nvPr/>
        </p:nvSpPr>
        <p:spPr>
          <a:xfrm>
            <a:off x="4695126" y="3173987"/>
            <a:ext cx="2568575" cy="382797"/>
          </a:xfrm>
          <a:prstGeom prst="rect"/>
          <a:noFill/>
          <a:ln>
            <a:noFill/>
          </a:ln>
        </p:spPr>
        <p:txBody>
          <a:bodyPr anchor="t" anchorCtr="0" bIns="0" lIns="0" rIns="0" spcFirstLastPara="1" tIns="13325" wrap="square">
            <a:spAutoFit/>
          </a:bodyPr>
          <a:p>
            <a:pPr algn="ctr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 lang="en-IN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94304" name="Google Shape;71;p1"/>
          <p:cNvGraphicFramePr>
            <a:graphicFrameLocks/>
          </p:cNvGraphicFramePr>
          <p:nvPr/>
        </p:nvGraphicFramePr>
        <p:xfrm>
          <a:off x="3153894" y="3556783"/>
          <a:ext cx="5209541" cy="3290575"/>
        </p:xfrm>
        <a:graphic>
          <a:graphicData uri="http://schemas.openxmlformats.org/drawingml/2006/table">
            <a:tbl>
              <a:tblPr firstRow="1" bandRow="1">
                <a:noFill/>
                <a:tableStyleId>{C438D44E-1724-4FB2-BC19-819A6C0CA483}</a:tableStyleId>
              </a:tblPr>
              <a:tblGrid>
                <a:gridCol w="3108919"/>
                <a:gridCol w="2100621"/>
              </a:tblGrid>
              <a:tr h="800100">
                <a:tc>
                  <a:txBody>
                    <a:bodyPr/>
                    <a:p>
                      <a:pPr algn="l" indent="0" lvl="0" marL="36195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KAVIYA S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r" indent="0" lvl="0" marL="0" marR="28575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2503811724322041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</a:tr>
              <a:tr h="830575">
                <a:tc>
                  <a:txBody>
                    <a:bodyPr/>
                    <a:p>
                      <a:pPr algn="l" indent="0" lvl="0" marL="31750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KEERTHANA D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0475" marB="0"/>
                </a:tc>
                <a:tc>
                  <a:txBody>
                    <a:bodyPr/>
                    <a:p>
                      <a:pPr algn="r" indent="0" lvl="0" marL="0" marR="2413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2503811724322042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0475" marB="0"/>
                </a:tc>
              </a:tr>
              <a:tr h="829950">
                <a:tc>
                  <a:txBody>
                    <a:bodyPr/>
                    <a:p>
                      <a:pPr algn="l" indent="0" lvl="0" marL="39370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MOHAMED AFSAR M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tc>
                  <a:txBody>
                    <a:bodyPr/>
                    <a:p>
                      <a:pPr algn="r" indent="0" lvl="0" marL="0" marR="3302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2503811724321054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</a:tr>
              <a:tr h="829950">
                <a:tc>
                  <a:txBody>
                    <a:bodyPr/>
                    <a:p>
                      <a:pPr algn="l" indent="0" lvl="0" marL="49530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MOHAMED ARSHAD M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  <a:tc>
                  <a:txBody>
                    <a:bodyPr/>
                    <a:p>
                      <a:pPr algn="r" indent="0" lvl="0" marL="0" marR="43815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800" lang="en-IN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2503811724321055</a:t>
                      </a:r>
                      <a:endParaRPr cap="none" sz="18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9850" marB="0"/>
                </a:tc>
              </a:tr>
            </a:tbl>
          </a:graphicData>
        </a:graphic>
      </p:graphicFrame>
      <p:sp>
        <p:nvSpPr>
          <p:cNvPr id="1048588" name="Google Shape;72;p1"/>
          <p:cNvSpPr txBox="1"/>
          <p:nvPr/>
        </p:nvSpPr>
        <p:spPr>
          <a:xfrm>
            <a:off x="2688336" y="1920240"/>
            <a:ext cx="6789038" cy="49244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2600" lang="en-IN"/>
              <a:t>AGI1242  -  Machine Learning Techniques</a:t>
            </a:r>
          </a:p>
        </p:txBody>
      </p:sp>
      <p:sp>
        <p:nvSpPr>
          <p:cNvPr id="1048589" name="Google Shape;73;p1"/>
          <p:cNvSpPr txBox="1"/>
          <p:nvPr/>
        </p:nvSpPr>
        <p:spPr>
          <a:xfrm>
            <a:off x="8916254" y="5797433"/>
            <a:ext cx="3179250" cy="115819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1800" lang="en-IN"/>
              <a:t>GUIDED BY </a:t>
            </a: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1800" lang="en-IN"/>
              <a:t>              Mrs. M.A. Reetha Jeyarani</a:t>
            </a: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3"/>
          <p:cNvSpPr txBox="1"/>
          <p:nvPr/>
        </p:nvSpPr>
        <p:spPr>
          <a:xfrm>
            <a:off x="10683875" y="617784"/>
            <a:ext cx="177800" cy="91303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rtl="0">
              <a:lnSpc>
                <a:spcPct val="10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4" name="Google Shape;79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55" name="Google Shape;80;p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593" name="Google Shape;81;p3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660876"/>
          </a:xfrm>
          <a:prstGeom prst="rect"/>
          <a:noFill/>
          <a:ln>
            <a:noFill/>
          </a:ln>
        </p:spPr>
        <p:txBody>
          <a:bodyPr anchor="t" anchorCtr="0" bIns="0" lIns="0" rIns="0" spcFirstLastPara="1" tIns="288725" wrap="square">
            <a:spAutoFit/>
          </a:bodyPr>
          <a:p>
            <a:pPr algn="l" indent="0" lvl="0" marL="295338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OBJECTIVE</a:t>
            </a:r>
            <a:endParaRPr dirty="0" sz="2400">
              <a:solidFill>
                <a:srgbClr val="002060"/>
              </a:solidFill>
            </a:endParaRPr>
          </a:p>
        </p:txBody>
      </p:sp>
      <p:sp>
        <p:nvSpPr>
          <p:cNvPr id="1048594" name="Google Shape;82;p3"/>
          <p:cNvSpPr txBox="1"/>
          <p:nvPr/>
        </p:nvSpPr>
        <p:spPr>
          <a:xfrm>
            <a:off x="682244" y="1556130"/>
            <a:ext cx="10723880" cy="3060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Classify emails as </a:t>
            </a:r>
            <a:r>
              <a:rPr b="1" sz="2000" lang="en-IN"/>
              <a:t>Spam or Legitimate</a:t>
            </a:r>
            <a:r>
              <a:rPr sz="2000" lang="en-IN"/>
              <a:t> using NLP/ML. </a:t>
            </a:r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Detect </a:t>
            </a:r>
            <a:r>
              <a:rPr b="1" sz="2000" lang="en-IN"/>
              <a:t>phishing, malware, and fraud</a:t>
            </a:r>
            <a:r>
              <a:rPr sz="2000" lang="en-IN"/>
              <a:t>. </a:t>
            </a:r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Reduce </a:t>
            </a:r>
            <a:r>
              <a:rPr b="1" sz="2000" lang="en-IN"/>
              <a:t>false positives</a:t>
            </a:r>
            <a:r>
              <a:rPr sz="2000" lang="en-IN"/>
              <a:t> and protect genuine emails. </a:t>
            </a:r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Adapt to </a:t>
            </a:r>
            <a:r>
              <a:rPr b="1" sz="2000" lang="en-IN"/>
              <a:t>new spam tactics</a:t>
            </a:r>
            <a:r>
              <a:rPr sz="2000" lang="en-IN"/>
              <a:t> through continuous learning. </a:t>
            </a:r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Enable </a:t>
            </a:r>
            <a:r>
              <a:rPr b="1" sz="2000" lang="en-IN"/>
              <a:t>real-time filtering</a:t>
            </a:r>
            <a:r>
              <a:rPr sz="2000" lang="en-IN"/>
              <a:t> with confidence scores for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7;p4"/>
          <p:cNvSpPr txBox="1"/>
          <p:nvPr/>
        </p:nvSpPr>
        <p:spPr>
          <a:xfrm>
            <a:off x="10683875" y="617784"/>
            <a:ext cx="177800" cy="91303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rtl="0">
              <a:lnSpc>
                <a:spcPct val="108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6" name="Google Shape;88;p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57" name="Google Shape;89;p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598" name="Google Shape;90;p4" descr="$PPTXTitle"/>
          <p:cNvSpPr txBox="1">
            <a:spLocks noGrp="1"/>
          </p:cNvSpPr>
          <p:nvPr>
            <p:ph type="title"/>
          </p:nvPr>
        </p:nvSpPr>
        <p:spPr>
          <a:xfrm>
            <a:off x="3200401" y="471039"/>
            <a:ext cx="5867400" cy="455366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ctr" indent="532130" lvl="0" marL="12700" marR="508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PROBLEM IDENTIFICATION</a:t>
            </a:r>
            <a:endParaRPr dirty="0" sz="2400">
              <a:solidFill>
                <a:srgbClr val="002060"/>
              </a:solidFill>
            </a:endParaRPr>
          </a:p>
        </p:txBody>
      </p:sp>
      <p:sp>
        <p:nvSpPr>
          <p:cNvPr id="1048599" name="Google Shape;91;p4"/>
          <p:cNvSpPr txBox="1"/>
          <p:nvPr/>
        </p:nvSpPr>
        <p:spPr>
          <a:xfrm>
            <a:off x="824865" y="2057400"/>
            <a:ext cx="10036810" cy="367030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Manual spam sorting is </a:t>
            </a:r>
            <a:r>
              <a:rPr b="1" sz="2000" lang="en-IN"/>
              <a:t>time-consuming</a:t>
            </a:r>
            <a:r>
              <a:rPr sz="2000" lang="en-IN"/>
              <a:t>. </a:t>
            </a:r>
          </a:p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Rule-based filters are </a:t>
            </a:r>
            <a:r>
              <a:rPr b="1" sz="2000" lang="en-IN"/>
              <a:t>static and easy to bypass</a:t>
            </a:r>
            <a:r>
              <a:rPr sz="2000" lang="en-IN"/>
              <a:t>. </a:t>
            </a:r>
          </a:p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Spammers constantly </a:t>
            </a:r>
            <a:r>
              <a:rPr b="1" sz="2000" lang="en-IN"/>
              <a:t>change their tactics</a:t>
            </a:r>
            <a:r>
              <a:rPr sz="2000" lang="en-IN"/>
              <a:t>. </a:t>
            </a:r>
          </a:p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Genuine emails may be </a:t>
            </a:r>
            <a:r>
              <a:rPr b="1" sz="2000" lang="en-IN"/>
              <a:t>wrongly marked as spam</a:t>
            </a:r>
            <a:r>
              <a:rPr sz="2000" lang="en-IN"/>
              <a:t>. </a:t>
            </a:r>
          </a:p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Phishing and malware emails can </a:t>
            </a:r>
            <a:r>
              <a:rPr b="1" sz="2000" lang="en-IN"/>
              <a:t>threaten security</a:t>
            </a:r>
            <a:r>
              <a:rPr sz="2000" lang="en-IN"/>
              <a:t>. </a:t>
            </a:r>
          </a:p>
          <a:p>
            <a:pPr algn="l" indent="-285750" lvl="0" marL="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sz="2000" lang="en-IN"/>
              <a:t>Existing systems often </a:t>
            </a:r>
            <a:r>
              <a:rPr b="1" sz="2000" lang="en-IN"/>
              <a:t>cannot adapt to new spam patterns</a:t>
            </a:r>
            <a:r>
              <a:rPr sz="2000" lang="en-IN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5" descr="$PPTXTitle"/>
          <p:cNvSpPr txBox="1">
            <a:spLocks noGrp="1"/>
          </p:cNvSpPr>
          <p:nvPr>
            <p:ph type="title"/>
          </p:nvPr>
        </p:nvSpPr>
        <p:spPr>
          <a:xfrm>
            <a:off x="2644090" y="130506"/>
            <a:ext cx="8003400" cy="721791"/>
          </a:xfrm>
          <a:prstGeom prst="rect"/>
          <a:noFill/>
          <a:ln>
            <a:noFill/>
          </a:ln>
        </p:spPr>
        <p:txBody>
          <a:bodyPr anchor="t" anchorCtr="0" bIns="0" lIns="0" rIns="0" spcFirstLastPara="1" tIns="349050" wrap="square">
            <a:spAutoFit/>
          </a:bodyPr>
          <a:p>
            <a:pPr algn="l" indent="0" lvl="0" marL="18745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FLOW DIAGRAM</a:t>
            </a:r>
            <a:endParaRPr dirty="0" sz="2400"/>
          </a:p>
        </p:txBody>
      </p:sp>
      <p:sp>
        <p:nvSpPr>
          <p:cNvPr id="1048607" name="Google Shape;97;p5"/>
          <p:cNvSpPr txBox="1"/>
          <p:nvPr/>
        </p:nvSpPr>
        <p:spPr>
          <a:xfrm>
            <a:off x="10662031" y="570992"/>
            <a:ext cx="222250" cy="45212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97158" name="Google Shape;98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59" name="Google Shape;99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pic>
        <p:nvPicPr>
          <p:cNvPr id="2097160" name="Google Shape;100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2130551" y="852297"/>
            <a:ext cx="6300597" cy="60057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Google Shape;105;p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87313" y="22986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62" name="Google Shape;106;p6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1037823" y="-50"/>
            <a:ext cx="1154112" cy="1103299"/>
          </a:xfrm>
          <a:prstGeom prst="rect"/>
          <a:noFill/>
          <a:ln>
            <a:noFill/>
          </a:ln>
        </p:spPr>
      </p:pic>
      <p:sp>
        <p:nvSpPr>
          <p:cNvPr id="1048610" name="Google Shape;107;p6" descr="$PPTXTitle"/>
          <p:cNvSpPr txBox="1">
            <a:spLocks noGrp="1"/>
          </p:cNvSpPr>
          <p:nvPr>
            <p:ph type="title"/>
          </p:nvPr>
        </p:nvSpPr>
        <p:spPr>
          <a:xfrm>
            <a:off x="4574540" y="352171"/>
            <a:ext cx="4264660" cy="381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LITERATURE SURVEY</a:t>
            </a:r>
            <a:endParaRPr dirty="0" sz="2400"/>
          </a:p>
        </p:txBody>
      </p:sp>
      <p:sp>
        <p:nvSpPr>
          <p:cNvPr id="1048611" name="Google Shape;108;p6"/>
          <p:cNvSpPr txBox="1"/>
          <p:nvPr/>
        </p:nvSpPr>
        <p:spPr>
          <a:xfrm>
            <a:off x="3063240" y="1554480"/>
            <a:ext cx="184731" cy="19583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8612" name="Google Shape;109;p6"/>
          <p:cNvSpPr txBox="1"/>
          <p:nvPr/>
        </p:nvSpPr>
        <p:spPr>
          <a:xfrm>
            <a:off x="3047238" y="2967335"/>
            <a:ext cx="6094476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lang="en-IN" u="sng">
                <a:solidFill>
                  <a:schemeClr val="hlink"/>
                </a:solidFill>
                <a:hlinkClick r:id="rId3"/>
              </a:rPr>
              <a:t>Literature Survey – Google sheets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14;p7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481214"/>
          </a:xfrm>
          <a:prstGeom prst="rect"/>
          <a:noFill/>
          <a:ln>
            <a:noFill/>
          </a:ln>
        </p:spPr>
        <p:txBody>
          <a:bodyPr anchor="t" anchorCtr="0" bIns="0" lIns="0" rIns="0" spcFirstLastPara="1" tIns="110800" wrap="square">
            <a:spAutoFit/>
          </a:bodyPr>
          <a:p>
            <a:pPr algn="l" indent="0" lvl="0" marL="211137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RESEARCH METHODOLOGY</a:t>
            </a:r>
            <a:endParaRPr dirty="0" sz="2400"/>
          </a:p>
        </p:txBody>
      </p:sp>
      <p:pic>
        <p:nvPicPr>
          <p:cNvPr id="2097163" name="Google Shape;115;p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64" name="Google Shape;116;p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616" name="Google Shape;117;p7"/>
          <p:cNvSpPr txBox="1"/>
          <p:nvPr/>
        </p:nvSpPr>
        <p:spPr>
          <a:xfrm>
            <a:off x="914400" y="2015921"/>
            <a:ext cx="9434830" cy="267905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b="1" dirty="0" sz="1800" lang="en-IN"/>
              <a:t>Naive Bayes</a:t>
            </a:r>
            <a:r>
              <a:rPr dirty="0" sz="1800" lang="en-IN"/>
              <a:t> uses probability-based classification to quickly identify emails as spam or legitimate. </a:t>
            </a:r>
            <a:endParaRPr dirty="0" sz="1800"/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b="1" dirty="0" sz="1800" lang="en-IN"/>
              <a:t>TF-IDF</a:t>
            </a:r>
            <a:r>
              <a:rPr dirty="0" sz="1800" lang="en-IN"/>
              <a:t> converts email text into numerical features based on the importance of words. </a:t>
            </a:r>
            <a:endParaRPr dirty="0" sz="1800"/>
          </a:p>
          <a:p>
            <a:pPr algn="l" indent="-342900" lvl="0" marL="3429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b="1" dirty="0" sz="1800" lang="en-IN"/>
              <a:t>NLP preprocessing</a:t>
            </a:r>
            <a:r>
              <a:rPr dirty="0" sz="1800" lang="en-IN"/>
              <a:t> cleans and prepares email content by removing unnecessary words and noise. </a:t>
            </a:r>
            <a:endParaRPr dirty="0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22;p8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660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227250" wrap="square">
            <a:spAutoFit/>
          </a:bodyPr>
          <a:p>
            <a:pPr algn="l" indent="0" lvl="0" marL="181863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800" lang="en-IN">
                <a:solidFill>
                  <a:srgbClr val="002060"/>
                </a:solidFill>
              </a:rPr>
              <a:t>COMPARE ALGORITHM</a:t>
            </a:r>
            <a:endParaRPr dirty="0" sz="2800"/>
          </a:p>
        </p:txBody>
      </p:sp>
      <p:sp>
        <p:nvSpPr>
          <p:cNvPr id="1048620" name="Google Shape;123;p8"/>
          <p:cNvSpPr txBox="1"/>
          <p:nvPr/>
        </p:nvSpPr>
        <p:spPr>
          <a:xfrm>
            <a:off x="10674731" y="581611"/>
            <a:ext cx="196850" cy="83945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50" wrap="square">
            <a:sp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97165" name="Google Shape;124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66" name="Google Shape;125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621" name="Google Shape;126;p8"/>
          <p:cNvSpPr txBox="1"/>
          <p:nvPr/>
        </p:nvSpPr>
        <p:spPr>
          <a:xfrm>
            <a:off x="805180" y="1684923"/>
            <a:ext cx="10581640" cy="321245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1800" lang="en-IN"/>
              <a:t>ALGORITHM 1: NAÏVE BAYES</a:t>
            </a:r>
            <a:endParaRPr dirty="0" sz="1800"/>
          </a:p>
          <a:p>
            <a:pPr algn="l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1800" lang="en-IN"/>
              <a:t>Principle:</a:t>
            </a:r>
            <a:br>
              <a:rPr dirty="0" sz="1800" lang="en-IN"/>
            </a:br>
            <a:r>
              <a:rPr dirty="0" sz="1800" lang="en-IN"/>
              <a:t>Naive Bayes uses probability to classify emails as </a:t>
            </a:r>
            <a:r>
              <a:rPr b="1" dirty="0" sz="1800" lang="en-IN"/>
              <a:t>Spam or Ham</a:t>
            </a:r>
            <a:r>
              <a:rPr dirty="0" sz="1800" lang="en-IN"/>
              <a:t>.</a:t>
            </a:r>
            <a:endParaRPr dirty="0" sz="1800"/>
          </a:p>
          <a:p>
            <a:pPr algn="l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1800" lang="en-IN"/>
              <a:t>Advantages: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dirty="0" sz="1800" lang="en-IN"/>
              <a:t>Fast and simple. 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dirty="0" sz="1800" lang="en-IN"/>
              <a:t>Effective for text data. 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dirty="0" sz="1800" lang="en-IN"/>
              <a:t>Works well with </a:t>
            </a:r>
            <a:r>
              <a:rPr b="1" dirty="0" sz="1800" lang="en-IN"/>
              <a:t>TF-IDF</a:t>
            </a:r>
            <a:r>
              <a:rPr dirty="0" sz="1800" lang="en-IN"/>
              <a:t> features. </a:t>
            </a:r>
            <a:endParaRPr dirty="0" sz="1800"/>
          </a:p>
          <a:p>
            <a:pPr algn="l" indent="-241300" lvl="0" marL="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3405365" y="354640"/>
            <a:ext cx="4879099" cy="369332"/>
          </a:xfrm>
        </p:spPr>
        <p:txBody>
          <a:bodyPr/>
          <a:p>
            <a:r>
              <a:rPr dirty="0" sz="2400" lang="en-IN">
                <a:solidFill>
                  <a:srgbClr val="002060"/>
                </a:solidFill>
              </a:rPr>
              <a:t>COMPARE ALGORITHM</a:t>
            </a:r>
            <a:endParaRPr dirty="0" lang="en-IN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781050" y="1815481"/>
            <a:ext cx="10629900" cy="3107056"/>
          </a:xfrm>
        </p:spPr>
        <p:txBody>
          <a:bodyPr/>
          <a:p>
            <a:pPr indent="0" lvl="0" marL="0">
              <a:lnSpc>
                <a:spcPct val="150000"/>
              </a:lnSpc>
            </a:pPr>
            <a:r>
              <a:rPr b="1" dirty="0" sz="1800" lang="en-US"/>
              <a:t>ALGORITHM 2: TF-IDF</a:t>
            </a:r>
            <a:endParaRPr dirty="0" sz="1800" lang="en-US"/>
          </a:p>
          <a:p>
            <a:pPr indent="0" lvl="0" marL="0">
              <a:lnSpc>
                <a:spcPct val="150000"/>
              </a:lnSpc>
            </a:pPr>
            <a:r>
              <a:rPr b="1" dirty="0" sz="1800" lang="en-US"/>
              <a:t>Principle:</a:t>
            </a:r>
            <a:br>
              <a:rPr dirty="0" sz="1800" lang="en-US"/>
            </a:br>
            <a:r>
              <a:rPr dirty="0" sz="1800" lang="en-US"/>
              <a:t>Converts email text into numerical values based on word importance.</a:t>
            </a:r>
          </a:p>
          <a:p>
            <a:pPr indent="0" lvl="0" marL="0">
              <a:lnSpc>
                <a:spcPct val="150000"/>
              </a:lnSpc>
            </a:pPr>
            <a:r>
              <a:rPr b="1" dirty="0" sz="1800" lang="en-US"/>
              <a:t>Advantages:</a:t>
            </a:r>
            <a:endParaRPr dirty="0" sz="1800" lang="en-US"/>
          </a:p>
          <a:p>
            <a:pPr indent="-342900" marL="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dirty="0" sz="1800" lang="en-US"/>
              <a:t>Simple and fast. </a:t>
            </a:r>
          </a:p>
          <a:p>
            <a:pPr indent="-342900" marL="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dirty="0" sz="1800" lang="en-US"/>
              <a:t>Effective for text classification. </a:t>
            </a:r>
          </a:p>
          <a:p>
            <a:pPr indent="-342900" marL="342900">
              <a:lnSpc>
                <a:spcPct val="150000"/>
              </a:lnSpc>
              <a:buClr>
                <a:srgbClr val="000000"/>
              </a:buClr>
              <a:buSzPts val="1600"/>
              <a:buFont typeface="Calibri"/>
              <a:buAutoNum type="arabicPeriod"/>
            </a:pPr>
            <a:r>
              <a:rPr dirty="0" sz="1800" lang="en-US"/>
              <a:t>Reduces the impact of common words.</a:t>
            </a:r>
          </a:p>
          <a:p>
            <a:endParaRPr dirty="0" sz="1800" lang="en-IN"/>
          </a:p>
        </p:txBody>
      </p:sp>
      <p:pic>
        <p:nvPicPr>
          <p:cNvPr id="2097167" name="Google Shape;124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68" name="Google Shape;125;p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31;p9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384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                    </a:t>
            </a:r>
          </a:p>
        </p:txBody>
      </p:sp>
      <p:sp>
        <p:nvSpPr>
          <p:cNvPr id="1048627" name="Google Shape;132;p9"/>
          <p:cNvSpPr txBox="1">
            <a:spLocks noGrp="1"/>
          </p:cNvSpPr>
          <p:nvPr>
            <p:ph type="body" idx="1"/>
          </p:nvPr>
        </p:nvSpPr>
        <p:spPr>
          <a:xfrm>
            <a:off x="778865" y="1382908"/>
            <a:ext cx="10629900" cy="441960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1800" lang="en-IN"/>
              <a:t>ALGORITHM 3: NLP Preprocessing</a:t>
            </a:r>
            <a:endParaRPr dirty="0" sz="1800"/>
          </a:p>
          <a:p>
            <a:pPr algn="l" indent="0" lvl="0" marL="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dirty="0" sz="1800" lang="en-IN"/>
              <a:t>Principle:</a:t>
            </a:r>
            <a:br>
              <a:rPr dirty="0" sz="1800" lang="en-IN"/>
            </a:br>
            <a:r>
              <a:rPr dirty="0" sz="1800" lang="en-IN"/>
              <a:t>Cleans and prepares email text by removing unnecessary words and noise.</a:t>
            </a:r>
            <a:endParaRPr dirty="0" sz="1800"/>
          </a:p>
          <a:p>
            <a:pPr algn="l" indent="0" lvl="0" marL="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dirty="0" sz="1800" lang="en-IN"/>
              <a:t>Advantages: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dirty="0" sz="1800" lang="en-IN"/>
              <a:t>Improves classification accuracy. 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dirty="0" sz="1800" lang="en-IN"/>
              <a:t>Reduces unnecessary data. </a:t>
            </a:r>
            <a:endParaRPr dirty="0" sz="1800"/>
          </a:p>
          <a:p>
            <a:pPr algn="l" indent="-342900" lvl="0" marL="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dirty="0" sz="1800" lang="en-IN"/>
              <a:t>Makes text easier to process.</a:t>
            </a:r>
            <a:endParaRPr dirty="0" sz="1800"/>
          </a:p>
          <a:p>
            <a:pPr algn="l" indent="0" lvl="0" marL="0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 sz="1800"/>
          </a:p>
        </p:txBody>
      </p:sp>
      <p:pic>
        <p:nvPicPr>
          <p:cNvPr id="2097169" name="Google Shape;133;p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70" name="Google Shape;134;p9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837419" y="207772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628" name="Google Shape;135;p9"/>
          <p:cNvSpPr txBox="1"/>
          <p:nvPr/>
        </p:nvSpPr>
        <p:spPr>
          <a:xfrm>
            <a:off x="4267200" y="585271"/>
            <a:ext cx="5025000" cy="523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2800" lang="en-IN">
                <a:solidFill>
                  <a:srgbClr val="002060"/>
                </a:solidFill>
              </a:rPr>
              <a:t>COMPARE 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40;p10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400" cy="369332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IMPLEMENTATION IDEA</a:t>
            </a:r>
            <a:endParaRPr dirty="0" sz="2400"/>
          </a:p>
        </p:txBody>
      </p:sp>
      <p:sp>
        <p:nvSpPr>
          <p:cNvPr id="1048632" name="Google Shape;141;p10"/>
          <p:cNvSpPr txBox="1">
            <a:spLocks noGrp="1"/>
          </p:cNvSpPr>
          <p:nvPr>
            <p:ph type="body" idx="1"/>
          </p:nvPr>
        </p:nvSpPr>
        <p:spPr>
          <a:xfrm>
            <a:off x="784575" y="1584960"/>
            <a:ext cx="10629900" cy="466725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Collect a </a:t>
            </a:r>
            <a:r>
              <a:rPr b="1" dirty="0" sz="1800" lang="en-IN" err="1"/>
              <a:t>labeled</a:t>
            </a:r>
            <a:r>
              <a:rPr b="1" dirty="0" sz="1800" lang="en-IN"/>
              <a:t> email dataset</a:t>
            </a:r>
            <a:r>
              <a:rPr dirty="0" sz="1800" lang="en-IN"/>
              <a:t> containing Spam and Ham emails.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Preprocess the email text using </a:t>
            </a:r>
            <a:r>
              <a:rPr b="1" dirty="0" sz="1800" lang="en-IN"/>
              <a:t>NLP techniques</a:t>
            </a:r>
            <a:r>
              <a:rPr dirty="0" sz="1800" lang="en-IN"/>
              <a:t> such as tokenization and stop-word removal.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Convert the processed text into numerical features using </a:t>
            </a:r>
            <a:r>
              <a:rPr b="1" dirty="0" sz="1800" lang="en-IN"/>
              <a:t>TF-IDF</a:t>
            </a:r>
            <a:r>
              <a:rPr dirty="0" sz="1800" lang="en-IN"/>
              <a:t>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Train a </a:t>
            </a:r>
            <a:r>
              <a:rPr b="1" dirty="0" sz="1800" lang="en-IN"/>
              <a:t>Naive Bayes classifier</a:t>
            </a:r>
            <a:r>
              <a:rPr dirty="0" sz="1800" lang="en-IN"/>
              <a:t> using the prepared dataset.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Test the trained model with new and unseen emails.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Classify emails as </a:t>
            </a:r>
            <a:r>
              <a:rPr b="1" dirty="0" sz="1800" lang="en-IN"/>
              <a:t>Spam or Not Spam (Ham)</a:t>
            </a:r>
            <a:r>
              <a:rPr dirty="0" sz="1800" lang="en-IN"/>
              <a:t>. </a:t>
            </a:r>
          </a:p>
          <a:p>
            <a:pPr indent="-285750" lvl="0" marL="5143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dirty="0" sz="1800" lang="en-IN"/>
              <a:t>Evaluate the system using </a:t>
            </a:r>
            <a:r>
              <a:rPr b="1" dirty="0" sz="1800" lang="en-IN"/>
              <a:t>Accuracy, Precision, Recall, F1-Score, and Confusion Matrix</a:t>
            </a:r>
            <a:r>
              <a:rPr dirty="0" sz="1800" lang="en-IN"/>
              <a:t>.</a:t>
            </a:r>
          </a:p>
        </p:txBody>
      </p:sp>
      <p:pic>
        <p:nvPicPr>
          <p:cNvPr id="2097171" name="Google Shape;142;p1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72" name="Google Shape;143;p10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837419" y="207772"/>
            <a:ext cx="1154112" cy="1103312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48;p11" descr="$PPTXTitle"/>
          <p:cNvSpPr txBox="1">
            <a:spLocks noGrp="1"/>
          </p:cNvSpPr>
          <p:nvPr>
            <p:ph type="title"/>
          </p:nvPr>
        </p:nvSpPr>
        <p:spPr>
          <a:xfrm>
            <a:off x="1977644" y="244912"/>
            <a:ext cx="8003540" cy="584841"/>
          </a:xfrm>
          <a:prstGeom prst="rect"/>
          <a:noFill/>
          <a:ln>
            <a:noFill/>
          </a:ln>
        </p:spPr>
        <p:txBody>
          <a:bodyPr anchor="t" anchorCtr="0" bIns="0" lIns="0" rIns="0" spcFirstLastPara="1" tIns="213425" wrap="square">
            <a:spAutoFit/>
          </a:bodyPr>
          <a:p>
            <a:pPr algn="l" indent="0" lvl="0" marL="259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 sz="2400" lang="en-IN">
                <a:solidFill>
                  <a:srgbClr val="002060"/>
                </a:solidFill>
              </a:rPr>
              <a:t>MODULES</a:t>
            </a:r>
            <a:endParaRPr dirty="0" sz="2400"/>
          </a:p>
        </p:txBody>
      </p:sp>
      <p:pic>
        <p:nvPicPr>
          <p:cNvPr id="2097173" name="Google Shape;149;p1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74" name="Google Shape;150;p1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636" name="Google Shape;151;p11"/>
          <p:cNvSpPr txBox="1"/>
          <p:nvPr/>
        </p:nvSpPr>
        <p:spPr>
          <a:xfrm>
            <a:off x="778865" y="1596390"/>
            <a:ext cx="7212900" cy="380808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Data collection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Gathers </a:t>
            </a:r>
            <a:r>
              <a:rPr dirty="0" sz="1800" lang="en-IN" err="1">
                <a:latin typeface="Arial"/>
                <a:ea typeface="Arial"/>
                <a:cs typeface="Arial"/>
                <a:sym typeface="Arial"/>
              </a:rPr>
              <a:t>labeled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 spam/ham and phishing/malware samples.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Preprocessing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Cleans and tokenizes email text.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Feature extraction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Converts text/metadata into numerical features.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Predicts spam/ham using Naive Bayes.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Link &amp; attachment analysis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Detects malicious URLs and unsafe files.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-2984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dirty="0" sz="1800" lang="en-IN">
                <a:latin typeface="Arial"/>
                <a:ea typeface="Arial"/>
                <a:cs typeface="Arial"/>
                <a:sym typeface="Arial"/>
              </a:rPr>
              <a:t>Confidence scoring</a:t>
            </a:r>
            <a:r>
              <a:rPr dirty="0" sz="1800" lang="en-IN">
                <a:latin typeface="Arial"/>
                <a:ea typeface="Arial"/>
                <a:cs typeface="Arial"/>
                <a:sym typeface="Arial"/>
              </a:rPr>
              <a:t>: Assigns probability score to predictions.</a:t>
            </a: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457200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dirty="0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56;p12" descr="$PPTXTitle"/>
          <p:cNvSpPr txBox="1">
            <a:spLocks noGrp="1"/>
          </p:cNvSpPr>
          <p:nvPr>
            <p:ph type="title"/>
          </p:nvPr>
        </p:nvSpPr>
        <p:spPr>
          <a:xfrm>
            <a:off x="1981200" y="381000"/>
            <a:ext cx="6552184" cy="594464"/>
          </a:xfrm>
          <a:prstGeom prst="rect"/>
          <a:noFill/>
          <a:ln>
            <a:noFill/>
          </a:ln>
        </p:spPr>
        <p:txBody>
          <a:bodyPr anchor="t" anchorCtr="0" bIns="0" lIns="0" rIns="0" spcFirstLastPara="1" tIns="161975" wrap="square">
            <a:spAutoFit/>
          </a:bodyPr>
          <a:p>
            <a:pPr algn="ctr" indent="0" lvl="0" marL="138493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002060"/>
                </a:solidFill>
              </a:rPr>
              <a:t>CONCLUSION</a:t>
            </a:r>
            <a:endParaRPr sz="2800">
              <a:solidFill>
                <a:srgbClr val="002060"/>
              </a:solidFill>
            </a:endParaRPr>
          </a:p>
        </p:txBody>
      </p:sp>
      <p:pic>
        <p:nvPicPr>
          <p:cNvPr id="2097175" name="Google Shape;157;p1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76" name="Google Shape;158;p1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  <p:sp>
        <p:nvSpPr>
          <p:cNvPr id="1048640" name="Google Shape;159;p12"/>
          <p:cNvSpPr txBox="1"/>
          <p:nvPr/>
        </p:nvSpPr>
        <p:spPr>
          <a:xfrm>
            <a:off x="778865" y="1616202"/>
            <a:ext cx="9832340" cy="3004186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-2857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The system successfully classifies emails as spam or ham using Naive Bayes and NLP.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-2857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Detects phishing links and malicious attachments for added security.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-2857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Confidence scoring reduces false positives by flagging uncertain cases for review.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-285750" lvl="0" marL="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Feedback-based retraining helps adapt to evolving spam patterns.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-285750" lvl="0" marL="298450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Provides a scalable, real-time solution that reduces manual effort and improves email security.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algn="l" indent="-285750" lvl="0" marL="298450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sz="1800" lang="en-IN">
                <a:latin typeface="Arial"/>
                <a:ea typeface="Arial"/>
                <a:cs typeface="Arial"/>
                <a:sym typeface="Arial"/>
              </a:rPr>
              <a:t>Future scope: explore deep learning (LSTM/BERT) for higher accuracy.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64;p14" descr="$PPTXTitle"/>
          <p:cNvSpPr txBox="1">
            <a:spLocks noGrp="1"/>
          </p:cNvSpPr>
          <p:nvPr>
            <p:ph type="title"/>
          </p:nvPr>
        </p:nvSpPr>
        <p:spPr>
          <a:xfrm>
            <a:off x="4037203" y="3083814"/>
            <a:ext cx="3457500" cy="690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13325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lang="en-IN"/>
              <a:t>THANK YOU</a:t>
            </a:r>
            <a:endParaRPr sz="4400"/>
          </a:p>
        </p:txBody>
      </p:sp>
      <p:sp>
        <p:nvSpPr>
          <p:cNvPr id="1048644" name="Google Shape;165;p14"/>
          <p:cNvSpPr txBox="1"/>
          <p:nvPr/>
        </p:nvSpPr>
        <p:spPr>
          <a:xfrm>
            <a:off x="10581258" y="566419"/>
            <a:ext cx="382270" cy="850250"/>
          </a:xfrm>
          <a:prstGeom prst="rect"/>
          <a:noFill/>
          <a:ln>
            <a:noFill/>
          </a:ln>
        </p:spPr>
        <p:txBody>
          <a:bodyPr anchor="t" anchorCtr="0" bIns="0" lIns="0" rIns="0" spcFirstLastPara="1" tIns="12050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lang="en-I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77" name="Google Shape;166;p1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200469" y="241300"/>
            <a:ext cx="1066800" cy="1057275"/>
          </a:xfrm>
          <a:prstGeom prst="rect"/>
          <a:noFill/>
          <a:ln>
            <a:noFill/>
          </a:ln>
        </p:spPr>
      </p:pic>
      <p:pic>
        <p:nvPicPr>
          <p:cNvPr id="2097178" name="Google Shape;167;p14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691114" y="236664"/>
            <a:ext cx="1154112" cy="1103312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Rahini</dc:creator>
  <cp:lastModifiedBy>Kaviya S</cp:lastModifiedBy>
  <dcterms:created xsi:type="dcterms:W3CDTF">2026-08-17T22:51:38Z</dcterms:created>
  <dcterms:modified xsi:type="dcterms:W3CDTF">2026-10-08T10:49:29Z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2026-08-18T00:00:00Z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2026-08-18T00:00:00Z</vt:filetime>
  </property>
  <property fmtid="{D5CDD505-2E9C-101B-9397-08002B2CF9AE}" pid="6" name="Producer">
    <vt:lpwstr>Microsoft® PowerPoint® 2024</vt:lpwstr>
  </property>
  <property fmtid="{D5CDD505-2E9C-101B-9397-08002B2CF9AE}" pid="7" name="ICV">
    <vt:lpwstr>80a753fb5dea4b2eaf3cd894eae00065_23</vt:lpwstr>
  </property>
</Properties>
</file>